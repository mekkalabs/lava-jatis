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4F8EFF">
              <a:alpha val="10000"/>
            </a:srgbClr>
          </a:solidFill>
          <a:ln w="12700">
            <a:solidFill>
              <a:srgbClr val="4F8E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71600"/>
            <a:ext cx="502920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33502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LAVAI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sistema operacional do lava-jato moderno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27889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com IA  ·  Fila em tempo real  ·  WhatsApp Bot  ·  Financeiro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3291840"/>
            <a:ext cx="2286000" cy="36576"/>
          </a:xfrm>
          <a:prstGeom prst="rect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Confidencial · Maio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83680" y="1005840"/>
            <a:ext cx="2194560" cy="3017520"/>
          </a:xfrm>
          <a:prstGeom prst="rect">
            <a:avLst/>
          </a:prstGeom>
          <a:solidFill>
            <a:srgbClr val="1215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1005840"/>
            <a:ext cx="54864" cy="30175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234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400k+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20840" y="15636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lava-jatos no Brasil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20840" y="19476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R$8bi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20840" y="22768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por ano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20840" y="26609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&lt;5%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20840" y="2990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 sistema digital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20840" y="33741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R$249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20840" y="3703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Pro/mês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0F1A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Lava-jatos perdendo dinheiro todo dia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06040" cy="1600200"/>
          </a:xfrm>
          <a:prstGeom prst="rect">
            <a:avLst/>
          </a:prstGeom>
          <a:solidFill>
            <a:srgbClr val="1215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260604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0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Fila desorganizada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esperam sem saber o tempo. Confusão, desistências e reclamações.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606040" cy="1600200"/>
          </a:xfrm>
          <a:prstGeom prst="rect">
            <a:avLst/>
          </a:prstGeom>
          <a:solidFill>
            <a:srgbClr val="1215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143000"/>
            <a:ext cx="260604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280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37560" y="1645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 agendamento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196596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via ligação ou WhatsApp manual. Sem controle, sem histórico.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143000"/>
            <a:ext cx="2606040" cy="1600200"/>
          </a:xfrm>
          <a:prstGeom prst="rect">
            <a:avLst/>
          </a:prstGeom>
          <a:solidFill>
            <a:srgbClr val="1215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143000"/>
            <a:ext cx="260604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280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💸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72200" y="1645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Caixa no caderno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196596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Receita, despesas e lucro calculados à mão. Sem visibilidade do negócio.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971800"/>
            <a:ext cx="2606040" cy="1600200"/>
          </a:xfrm>
          <a:prstGeom prst="rect">
            <a:avLst/>
          </a:prstGeom>
          <a:solidFill>
            <a:srgbClr val="1215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971800"/>
            <a:ext cx="260604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08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02920" y="3474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WhatsApp manual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379476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 responde centenas de mensagens por dia. Tempo perdido, erros frequentes.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2971800"/>
            <a:ext cx="2606040" cy="1600200"/>
          </a:xfrm>
          <a:prstGeom prst="rect">
            <a:avLst/>
          </a:prstGeom>
          <a:solidFill>
            <a:srgbClr val="1215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2971800"/>
            <a:ext cx="260604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108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337560" y="3474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fidelização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37560" y="379476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sabe quem são seus melhores clientes. Sem estratégia de retenção.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2971800"/>
            <a:ext cx="2606040" cy="1600200"/>
          </a:xfrm>
          <a:prstGeom prst="rect">
            <a:avLst/>
          </a:prstGeom>
          <a:solidFill>
            <a:srgbClr val="1215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0" y="2971800"/>
            <a:ext cx="260604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3108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172200" y="3474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 dados nem IA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72200" y="379476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no feeling. Pico de horário, serviços mais lucrativos — nenhum dado.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0F1A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MERCADO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Mercado gigante e quase sem digitalização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2560320" cy="2377440"/>
          </a:xfrm>
          <a:prstGeom prst="rect">
            <a:avLst/>
          </a:prstGeom>
          <a:solidFill>
            <a:srgbClr val="1215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88720"/>
            <a:ext cx="256032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400.000+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12648" y="22128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lava-jatos no Brasil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" y="263347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pequeno ao grande porte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560320" cy="2377440"/>
          </a:xfrm>
          <a:prstGeom prst="rect">
            <a:avLst/>
          </a:prstGeom>
          <a:solidFill>
            <a:srgbClr val="1215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188720"/>
            <a:ext cx="2560320" cy="640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1568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R$ 8 bi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401568" y="22128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movimentados por ano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01568" y="263347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em serviços de lavagem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1188720"/>
            <a:ext cx="2560320" cy="2377440"/>
          </a:xfrm>
          <a:prstGeom prst="rect">
            <a:avLst/>
          </a:prstGeom>
          <a:solidFill>
            <a:srgbClr val="1215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188720"/>
            <a:ext cx="2560320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0488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5%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190488" y="22128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usam qualquer sistema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0488" y="263347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 de primeiro mover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703320"/>
            <a:ext cx="8138160" cy="1097280"/>
          </a:xfrm>
          <a:prstGeom prst="rect">
            <a:avLst/>
          </a:prstGeom>
          <a:solidFill>
            <a:srgbClr val="0D2030"/>
          </a:solidFill>
          <a:ln w="12700">
            <a:solidFill>
              <a:srgbClr val="0044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80160" y="374904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São Paulo, existem mais lava-jatos do que farmácias. O dono típico tem 30+ carros/dia e controla tudo no caderno ou WhatsApp. Quem chegar primeiro com uma solução simples e barata domina o mercado.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0F1A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LAVAI — tudo que o lava-jato precisa, em um sistema só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749040" y="2011680"/>
            <a:ext cx="1645920" cy="1097280"/>
          </a:xfrm>
          <a:prstGeom prst="ellipse">
            <a:avLst/>
          </a:prstGeom>
          <a:solidFill>
            <a:srgbClr val="12152A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2194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LAVAI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1645920"/>
            <a:ext cx="2331720" cy="1417320"/>
          </a:xfrm>
          <a:prstGeom prst="rect">
            <a:avLst/>
          </a:prstGeom>
          <a:solidFill>
            <a:srgbClr val="1215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45920"/>
            <a:ext cx="233172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7556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17556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21945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ao vivo,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IA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108960"/>
            <a:ext cx="2331720" cy="1417320"/>
          </a:xfrm>
          <a:prstGeom prst="rect">
            <a:avLst/>
          </a:prstGeom>
          <a:solidFill>
            <a:srgbClr val="1215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108960"/>
            <a:ext cx="2331720" cy="45720"/>
          </a:xfrm>
          <a:prstGeom prst="rect">
            <a:avLst/>
          </a:prstGeom>
          <a:solidFill>
            <a:srgbClr val="4F8EFF"/>
          </a:solidFill>
          <a:ln w="12700">
            <a:solidFill>
              <a:srgbClr val="4F8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32186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🚗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32186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Fila ao Vivo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" y="36576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em tempo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notificações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83280" y="1005840"/>
            <a:ext cx="2331720" cy="1417320"/>
          </a:xfrm>
          <a:prstGeom prst="rect">
            <a:avLst/>
          </a:prstGeom>
          <a:solidFill>
            <a:srgbClr val="1215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83280" y="1005840"/>
            <a:ext cx="2331720" cy="457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93008" y="111556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977640" y="11155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Agendamento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93008" y="1554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público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WhatsApp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1645920"/>
            <a:ext cx="2331720" cy="1417320"/>
          </a:xfrm>
          <a:prstGeom prst="rect">
            <a:avLst/>
          </a:prstGeom>
          <a:solidFill>
            <a:srgbClr val="1215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77840" y="1645920"/>
            <a:ext cx="2331720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87568" y="17556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172200" y="17556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WhatsApp Bot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87568" y="21945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auto,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confirmações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77840" y="3108960"/>
            <a:ext cx="2331720" cy="1417320"/>
          </a:xfrm>
          <a:prstGeom prst="rect">
            <a:avLst/>
          </a:prstGeom>
          <a:solidFill>
            <a:srgbClr val="1215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77840" y="3108960"/>
            <a:ext cx="233172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87568" y="32186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172200" y="32186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Financeiro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87568" y="36576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Caixa, despesas,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 do dia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83280" y="3931920"/>
            <a:ext cx="2331720" cy="1417320"/>
          </a:xfrm>
          <a:prstGeom prst="rect">
            <a:avLst/>
          </a:prstGeom>
          <a:solidFill>
            <a:srgbClr val="1215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83280" y="3931920"/>
            <a:ext cx="233172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93008" y="40416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977640" y="40416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Fidelidade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493008" y="44805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Pontos, tokens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 (Polygon)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0F1A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CONSTRUÍDO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Produto pronto para demo e primeiros clientes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651760" cy="3794760"/>
          </a:xfrm>
          <a:prstGeom prst="rect">
            <a:avLst/>
          </a:prstGeom>
          <a:solidFill>
            <a:srgbClr val="1215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234440"/>
            <a:ext cx="2432304" cy="1691640"/>
          </a:xfrm>
          <a:prstGeom prst="rect">
            <a:avLst/>
          </a:prstGeom>
          <a:solidFill>
            <a:srgbClr val="050609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54480"/>
            <a:ext cx="1645920" cy="109728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874520"/>
            <a:ext cx="2011680" cy="109728"/>
          </a:xfrm>
          <a:prstGeom prst="rect">
            <a:avLst/>
          </a:prstGeom>
          <a:solidFill>
            <a:srgbClr val="6B7280">
              <a:alpha val="30000"/>
            </a:srgbClr>
          </a:solidFill>
          <a:ln w="12700">
            <a:solidFill>
              <a:srgbClr val="6B728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194560"/>
            <a:ext cx="1280160" cy="109728"/>
          </a:xfrm>
          <a:prstGeom prst="rect">
            <a:avLst/>
          </a:prstGeom>
          <a:solidFill>
            <a:srgbClr val="00E676">
              <a:alpha val="50000"/>
            </a:srgbClr>
          </a:solidFill>
          <a:ln w="12700">
            <a:solidFill>
              <a:srgbClr val="00E676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514600"/>
            <a:ext cx="1828800" cy="109728"/>
          </a:xfrm>
          <a:prstGeom prst="rect">
            <a:avLst/>
          </a:prstGeom>
          <a:solidFill>
            <a:srgbClr val="6B7280">
              <a:alpha val="30000"/>
            </a:srgbClr>
          </a:solidFill>
          <a:ln w="12700">
            <a:solidFill>
              <a:srgbClr val="6B7280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788920"/>
            <a:ext cx="914400" cy="109728"/>
          </a:xfrm>
          <a:prstGeom prst="rect">
            <a:avLst/>
          </a:prstGeom>
          <a:solidFill>
            <a:srgbClr val="4F8EFF">
              <a:alpha val="40000"/>
            </a:srgbClr>
          </a:solidFill>
          <a:ln w="12700">
            <a:solidFill>
              <a:srgbClr val="4F8E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303580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Principal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3419856"/>
            <a:ext cx="24323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métricas ao vivo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Fila interativa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IA Insights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Gráfico de receita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4462272"/>
            <a:ext cx="2432304" cy="274320"/>
          </a:xfrm>
          <a:prstGeom prst="rect">
            <a:avLst/>
          </a:prstGeom>
          <a:solidFill>
            <a:srgbClr val="052010"/>
          </a:solidFill>
          <a:ln w="12700">
            <a:solidFill>
              <a:srgbClr val="064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446227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Construído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1097280"/>
            <a:ext cx="2651760" cy="3794760"/>
          </a:xfrm>
          <a:prstGeom prst="rect">
            <a:avLst/>
          </a:prstGeom>
          <a:solidFill>
            <a:srgbClr val="1215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55848" y="1234440"/>
            <a:ext cx="2432304" cy="1691640"/>
          </a:xfrm>
          <a:prstGeom prst="rect">
            <a:avLst/>
          </a:prstGeom>
          <a:solidFill>
            <a:srgbClr val="050609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554480"/>
            <a:ext cx="1645920" cy="109728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874520"/>
            <a:ext cx="2011680" cy="109728"/>
          </a:xfrm>
          <a:prstGeom prst="rect">
            <a:avLst/>
          </a:prstGeom>
          <a:solidFill>
            <a:srgbClr val="6B7280">
              <a:alpha val="30000"/>
            </a:srgbClr>
          </a:solidFill>
          <a:ln w="12700">
            <a:solidFill>
              <a:srgbClr val="6B7280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2194560"/>
            <a:ext cx="1280160" cy="109728"/>
          </a:xfrm>
          <a:prstGeom prst="rect">
            <a:avLst/>
          </a:prstGeom>
          <a:solidFill>
            <a:srgbClr val="00E676">
              <a:alpha val="50000"/>
            </a:srgbClr>
          </a:solidFill>
          <a:ln w="12700">
            <a:solidFill>
              <a:srgbClr val="00E676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2514600"/>
            <a:ext cx="1828800" cy="109728"/>
          </a:xfrm>
          <a:prstGeom prst="rect">
            <a:avLst/>
          </a:prstGeom>
          <a:solidFill>
            <a:srgbClr val="6B7280">
              <a:alpha val="30000"/>
            </a:srgbClr>
          </a:solidFill>
          <a:ln w="12700">
            <a:solidFill>
              <a:srgbClr val="6B7280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788920"/>
            <a:ext cx="914400" cy="109728"/>
          </a:xfrm>
          <a:prstGeom prst="rect">
            <a:avLst/>
          </a:prstGeom>
          <a:solidFill>
            <a:srgbClr val="4F8EFF">
              <a:alpha val="40000"/>
            </a:srgbClr>
          </a:solidFill>
          <a:ln w="12700">
            <a:solidFill>
              <a:srgbClr val="4F8EFF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5848" y="303580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Financeiro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55848" y="3419856"/>
            <a:ext cx="24323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Transações do dia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Formas de pagamento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Fechar caixa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Histórico 7 dias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55848" y="4462272"/>
            <a:ext cx="2432304" cy="274320"/>
          </a:xfrm>
          <a:prstGeom prst="rect">
            <a:avLst/>
          </a:prstGeom>
          <a:solidFill>
            <a:srgbClr val="052010"/>
          </a:solidFill>
          <a:ln w="12700">
            <a:solidFill>
              <a:srgbClr val="064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55848" y="446227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Construído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1097280"/>
            <a:ext cx="2651760" cy="3794760"/>
          </a:xfrm>
          <a:prstGeom prst="rect">
            <a:avLst/>
          </a:prstGeom>
          <a:solidFill>
            <a:srgbClr val="1215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7648" y="1234440"/>
            <a:ext cx="2432304" cy="1691640"/>
          </a:xfrm>
          <a:prstGeom prst="rect">
            <a:avLst/>
          </a:prstGeom>
          <a:solidFill>
            <a:srgbClr val="050609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6520" y="1554480"/>
            <a:ext cx="1645920" cy="109728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1874520"/>
            <a:ext cx="2011680" cy="109728"/>
          </a:xfrm>
          <a:prstGeom prst="rect">
            <a:avLst/>
          </a:prstGeom>
          <a:solidFill>
            <a:srgbClr val="6B7280">
              <a:alpha val="30000"/>
            </a:srgbClr>
          </a:solidFill>
          <a:ln w="12700">
            <a:solidFill>
              <a:srgbClr val="6B7280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46520" y="2194560"/>
            <a:ext cx="1280160" cy="109728"/>
          </a:xfrm>
          <a:prstGeom prst="rect">
            <a:avLst/>
          </a:prstGeom>
          <a:solidFill>
            <a:srgbClr val="00E676">
              <a:alpha val="50000"/>
            </a:srgbClr>
          </a:solidFill>
          <a:ln w="12700">
            <a:solidFill>
              <a:srgbClr val="00E676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46520" y="2514600"/>
            <a:ext cx="1828800" cy="109728"/>
          </a:xfrm>
          <a:prstGeom prst="rect">
            <a:avLst/>
          </a:prstGeom>
          <a:solidFill>
            <a:srgbClr val="6B7280">
              <a:alpha val="30000"/>
            </a:srgbClr>
          </a:solidFill>
          <a:ln w="12700">
            <a:solidFill>
              <a:srgbClr val="6B7280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46520" y="2788920"/>
            <a:ext cx="914400" cy="109728"/>
          </a:xfrm>
          <a:prstGeom prst="rect">
            <a:avLst/>
          </a:prstGeom>
          <a:solidFill>
            <a:srgbClr val="4F8EFF">
              <a:alpha val="40000"/>
            </a:srgbClr>
          </a:solidFill>
          <a:ln w="12700">
            <a:solidFill>
              <a:srgbClr val="4F8EFF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27648" y="303580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Agendamento Público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27648" y="3419856"/>
            <a:ext cx="24323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Link do cliente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etapas guiadas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Confirmação auto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Mobile-first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27648" y="4462272"/>
            <a:ext cx="2432304" cy="274320"/>
          </a:xfrm>
          <a:prstGeom prst="rect">
            <a:avLst/>
          </a:prstGeom>
          <a:solidFill>
            <a:srgbClr val="052010"/>
          </a:solidFill>
          <a:ln w="12700">
            <a:solidFill>
              <a:srgbClr val="0640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27648" y="446227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Construído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0F1A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NEGÓCIO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SaaS recorrente · Fácil de vender · Fácil de usar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560320" cy="3749040"/>
          </a:xfrm>
          <a:prstGeom prst="rect">
            <a:avLst/>
          </a:prstGeom>
          <a:solidFill>
            <a:srgbClr val="1215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2560320" cy="64008"/>
          </a:xfrm>
          <a:prstGeom prst="rect">
            <a:avLst/>
          </a:prstGeom>
          <a:solidFill>
            <a:srgbClr val="4F8EFF"/>
          </a:solidFill>
          <a:ln w="12700">
            <a:solidFill>
              <a:srgbClr val="4F8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8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1709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Lava-jato pequeno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02996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R$99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828800" y="2331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/mês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715768"/>
            <a:ext cx="2286000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7889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Dashboard básico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1089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Fila ao vivo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4290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Agendamento público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37490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Suporte por email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1143000"/>
            <a:ext cx="2560320" cy="3749040"/>
          </a:xfrm>
          <a:prstGeom prst="rect">
            <a:avLst/>
          </a:prstGeom>
          <a:solidFill>
            <a:srgbClr val="0A1A2A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120" y="1143000"/>
            <a:ext cx="256032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040" y="1005840"/>
            <a:ext cx="1554480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1005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POPULAR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83280" y="13258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383280" y="1709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Lava-jato médio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202996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R$249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4617720" y="2331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/mês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83280" y="2715768"/>
            <a:ext cx="2286000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27889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Tudo do Starter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83280" y="31089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WhatsApp Bot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83280" y="34290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Módulo Financeiro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37490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IA Insights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83280" y="40690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Fidelidade pontos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83280" y="43891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Relatórios avançados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35040" y="1143000"/>
            <a:ext cx="2560320" cy="3749040"/>
          </a:xfrm>
          <a:prstGeom prst="rect">
            <a:avLst/>
          </a:prstGeom>
          <a:solidFill>
            <a:srgbClr val="1215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35040" y="1143000"/>
            <a:ext cx="256032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13258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172200" y="1709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/ franquia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72200" y="202996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R$599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7406640" y="2331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+/mês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72200" y="2715768"/>
            <a:ext cx="2286000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27889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Tudo do Pro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72200" y="31089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Multi-unidade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72200" y="34290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API própria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72200" y="37490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Web3 loyalty tokens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172200" y="40690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Onboarding dedicado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172200" y="43891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SLA garantido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0F1A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Simples para o dono · Incrível para o cliente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594360" cy="594360"/>
          </a:xfrm>
          <a:prstGeom prst="ellipse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704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" y="1764792"/>
            <a:ext cx="64008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1097280"/>
            <a:ext cx="7635240" cy="822960"/>
          </a:xfrm>
          <a:prstGeom prst="rect">
            <a:avLst/>
          </a:prstGeom>
          <a:solidFill>
            <a:srgbClr val="1215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097280"/>
            <a:ext cx="54864" cy="8229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11612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Setup em 5 minutos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1527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 cadastra o lava-jato, configura serviços e preços. Recebe o link de agendamento para compartilhar.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130552"/>
            <a:ext cx="594360" cy="594360"/>
          </a:xfrm>
          <a:prstGeom prst="ellipse">
            <a:avLst/>
          </a:prstGeom>
          <a:solidFill>
            <a:srgbClr val="00E676">
              <a:alpha val="8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130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" y="2724912"/>
            <a:ext cx="64008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000" y="2057400"/>
            <a:ext cx="7635240" cy="822960"/>
          </a:xfrm>
          <a:prstGeom prst="rect">
            <a:avLst/>
          </a:prstGeom>
          <a:solidFill>
            <a:srgbClr val="1215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" y="2057400"/>
            <a:ext cx="54864" cy="82296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21214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Dashboard ao vivo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2487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Vê a fila em tempo real, lança serviços, registra pagamentos. Financeiro atualizado automaticamente.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090672"/>
            <a:ext cx="594360" cy="594360"/>
          </a:xfrm>
          <a:prstGeom prst="ellipse">
            <a:avLst/>
          </a:prstGeom>
          <a:solidFill>
            <a:srgbClr val="FBBF24">
              <a:alpha val="8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0906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" y="3685032"/>
            <a:ext cx="64008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43000" y="3017520"/>
            <a:ext cx="7635240" cy="822960"/>
          </a:xfrm>
          <a:prstGeom prst="rect">
            <a:avLst/>
          </a:prstGeom>
          <a:solidFill>
            <a:srgbClr val="1215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43000" y="3017520"/>
            <a:ext cx="54864" cy="8229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25880" y="30815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WhatsApp automático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25880" y="34472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confirma agendamentos, avisa quando o carro ficou pronto e envia promoções automaticamente.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4050792"/>
            <a:ext cx="594360" cy="594360"/>
          </a:xfrm>
          <a:prstGeom prst="ellipse">
            <a:avLst/>
          </a:prstGeom>
          <a:solidFill>
            <a:srgbClr val="A855F7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507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143000" y="3977640"/>
            <a:ext cx="7635240" cy="822960"/>
          </a:xfrm>
          <a:prstGeom prst="rect">
            <a:avLst/>
          </a:prstGeom>
          <a:solidFill>
            <a:srgbClr val="1215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3000" y="3977640"/>
            <a:ext cx="54864" cy="8229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25880" y="40416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IA trabalha por você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325880" y="44074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de pico, clientes em risco de churn, sugestão de preços dinâmicos — tudo automatizado.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0F1A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zero a plataforma nacional em 12 meses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8229600" cy="457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1764792"/>
            <a:ext cx="320040" cy="3200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148840"/>
            <a:ext cx="2011680" cy="2651760"/>
          </a:xfrm>
          <a:prstGeom prst="rect">
            <a:avLst/>
          </a:prstGeom>
          <a:solidFill>
            <a:srgbClr val="0A1A22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148840"/>
            <a:ext cx="201168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FASE 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5328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7614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Vender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32461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Visitar lava-jatos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Demo presencial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1605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Assinar 5 primeiros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37560" y="1764792"/>
            <a:ext cx="320040" cy="320040"/>
          </a:xfrm>
          <a:prstGeom prst="ellipse">
            <a:avLst/>
          </a:prstGeom>
          <a:solidFill>
            <a:srgbClr val="12152A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0" y="2148840"/>
            <a:ext cx="2011680" cy="2651760"/>
          </a:xfrm>
          <a:prstGeom prst="rect">
            <a:avLst/>
          </a:prstGeom>
          <a:solidFill>
            <a:srgbClr val="1215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0" y="2148840"/>
            <a:ext cx="201168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2240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FASE 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51760" y="25328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2-4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51760" y="27614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MVP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651760" y="32461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Supabase backend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5176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WhatsApp bot live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51760" y="41605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Primeiros pagantes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32120" y="1764792"/>
            <a:ext cx="320040" cy="320040"/>
          </a:xfrm>
          <a:prstGeom prst="ellipse">
            <a:avLst/>
          </a:prstGeom>
          <a:solidFill>
            <a:srgbClr val="12152A"/>
          </a:solidFill>
          <a:ln w="12700">
            <a:solidFill>
              <a:srgbClr val="4F8E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148840"/>
            <a:ext cx="2011680" cy="2651760"/>
          </a:xfrm>
          <a:prstGeom prst="rect">
            <a:avLst/>
          </a:prstGeom>
          <a:solidFill>
            <a:srgbClr val="1215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148840"/>
            <a:ext cx="2011680" cy="54864"/>
          </a:xfrm>
          <a:prstGeom prst="rect">
            <a:avLst/>
          </a:prstGeom>
          <a:solidFill>
            <a:srgbClr val="4F8EFF"/>
          </a:solidFill>
          <a:ln w="12700">
            <a:solidFill>
              <a:srgbClr val="4F8E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240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FASE 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25328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2-3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46320" y="27614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Produto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846320" y="32461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IA agents (aios-core)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MercadoPago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41605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 mobile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726680" y="1764792"/>
            <a:ext cx="320040" cy="320040"/>
          </a:xfrm>
          <a:prstGeom prst="ellipse">
            <a:avLst/>
          </a:prstGeom>
          <a:solidFill>
            <a:srgbClr val="1215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49440" y="2148840"/>
            <a:ext cx="2011680" cy="2651760"/>
          </a:xfrm>
          <a:prstGeom prst="rect">
            <a:avLst/>
          </a:prstGeom>
          <a:solidFill>
            <a:srgbClr val="1215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49440" y="2148840"/>
            <a:ext cx="201168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40880" y="2240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FASE 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40880" y="25328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4-12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040880" y="27614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Escala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040880" y="32461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Web3 loyalty tokens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04088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100+ clientes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040880" y="41605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Franquias e redes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0F1A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Tecnologia de ponta · Custo baixo · Escala infinita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114800" cy="1005840"/>
          </a:xfrm>
          <a:prstGeom prst="rect">
            <a:avLst/>
          </a:prstGeom>
          <a:solidFill>
            <a:srgbClr val="1215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" y="1371600"/>
            <a:ext cx="594360" cy="594360"/>
          </a:xfrm>
          <a:prstGeom prst="ellipse">
            <a:avLst/>
          </a:prstGeom>
          <a:solidFill>
            <a:srgbClr val="F0F4FF">
              <a:alpha val="20000"/>
            </a:srgbClr>
          </a:solidFill>
          <a:ln w="12700">
            <a:solidFill>
              <a:srgbClr val="F0F4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▲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2801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 14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16642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+ API  ·  App Router, SSR, TypeScript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377440"/>
            <a:ext cx="4114800" cy="1005840"/>
          </a:xfrm>
          <a:prstGeom prst="rect">
            <a:avLst/>
          </a:prstGeom>
          <a:solidFill>
            <a:srgbClr val="1215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560320"/>
            <a:ext cx="594360" cy="594360"/>
          </a:xfrm>
          <a:prstGeom prst="ellipse">
            <a:avLst/>
          </a:prstGeom>
          <a:solidFill>
            <a:srgbClr val="3ECF8E">
              <a:alpha val="20000"/>
            </a:srgbClr>
          </a:solidFill>
          <a:ln w="12700">
            <a:solidFill>
              <a:srgbClr val="3ECF8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560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🔷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24688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Supabase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28529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DB  ·  PostgreSQL, Auth, Realtime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566160"/>
            <a:ext cx="4114800" cy="1005840"/>
          </a:xfrm>
          <a:prstGeom prst="rect">
            <a:avLst/>
          </a:prstGeom>
          <a:solidFill>
            <a:srgbClr val="1215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" y="3749040"/>
            <a:ext cx="594360" cy="594360"/>
          </a:xfrm>
          <a:prstGeom prst="ellipse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3749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36576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aios-core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40416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de IA  ·  Scheduler, Customer, Pricing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188720"/>
            <a:ext cx="4114800" cy="1005840"/>
          </a:xfrm>
          <a:prstGeom prst="rect">
            <a:avLst/>
          </a:prstGeom>
          <a:solidFill>
            <a:srgbClr val="1215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64608" y="1371600"/>
            <a:ext cx="594360" cy="594360"/>
          </a:xfrm>
          <a:prstGeom prst="ellipse">
            <a:avLst/>
          </a:prstGeom>
          <a:solidFill>
            <a:srgbClr val="25D366">
              <a:alpha val="20000"/>
            </a:srgbClr>
          </a:solidFill>
          <a:ln w="12700">
            <a:solidFill>
              <a:srgbClr val="25D366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77840" y="12801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Evolution API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577840" y="16642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Bot  ·  Self-hosted, gratuito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377440"/>
            <a:ext cx="4114800" cy="1005840"/>
          </a:xfrm>
          <a:prstGeom prst="rect">
            <a:avLst/>
          </a:prstGeom>
          <a:solidFill>
            <a:srgbClr val="1215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64608" y="2560320"/>
            <a:ext cx="594360" cy="594360"/>
          </a:xfrm>
          <a:prstGeom prst="ellipse">
            <a:avLst/>
          </a:prstGeom>
          <a:solidFill>
            <a:srgbClr val="4F8EFF">
              <a:alpha val="20000"/>
            </a:srgbClr>
          </a:solidFill>
          <a:ln w="12700">
            <a:solidFill>
              <a:srgbClr val="4F8EFF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2560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💳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577840" y="24688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MercadoPago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577840" y="28529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Pagamentos  ·  Pix, cartão, link de pagto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566160"/>
            <a:ext cx="4114800" cy="1005840"/>
          </a:xfrm>
          <a:prstGeom prst="rect">
            <a:avLst/>
          </a:prstGeom>
          <a:solidFill>
            <a:srgbClr val="1215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64608" y="3749040"/>
            <a:ext cx="594360" cy="594360"/>
          </a:xfrm>
          <a:prstGeom prst="ellipse">
            <a:avLst/>
          </a:prstGeom>
          <a:solidFill>
            <a:srgbClr val="8247E5">
              <a:alpha val="20000"/>
            </a:srgbClr>
          </a:solidFill>
          <a:ln w="12700">
            <a:solidFill>
              <a:srgbClr val="8247E5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3749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◆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577840" y="36576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Polygon (Web3)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577840" y="40416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Tokens  ·  NFT fidelidade, Fase 3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4480560"/>
            <a:ext cx="8503920" cy="457200"/>
          </a:xfrm>
          <a:prstGeom prst="rect">
            <a:avLst/>
          </a:prstGeom>
          <a:solidFill>
            <a:srgbClr val="05200A"/>
          </a:solidFill>
          <a:ln w="12700">
            <a:solidFill>
              <a:srgbClr val="08301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49884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Custo total de infra: ~R$0 a R$150/mês até 200 clientes pagantes. Alta escalabilidade horizontal com Vercel + Supabase.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1828800"/>
            <a:ext cx="5486400" cy="548640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Vamos construir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futuro dos lava-jatos?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construído · Mercado de R$8bi · Pronto para vender esta semana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2834640"/>
            <a:ext cx="6400800" cy="1828800"/>
          </a:xfrm>
          <a:prstGeom prst="rect">
            <a:avLst/>
          </a:prstGeom>
          <a:solidFill>
            <a:srgbClr val="1215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2834640"/>
            <a:ext cx="64008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290779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08760" y="3264408"/>
            <a:ext cx="274320" cy="27432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3264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74520" y="326440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ao vivo desta apresentação — hoje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508760" y="3648456"/>
            <a:ext cx="274320" cy="27432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3648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74520" y="3648456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Visitar 5 lava-jatos nesta semana — fechar primeiros contratos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508760" y="4032504"/>
            <a:ext cx="274320" cy="27432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08760" y="4032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74520" y="403250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na Vercel — URL pública em 15 minutos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508760" y="4416552"/>
            <a:ext cx="274320" cy="27432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08760" y="4416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74520" y="441655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+ WhatsApp Bot — produto completo em 30 dias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lavai.app  ·  gustav0.v1c3nt3@gmail.com  ·  Gusta,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LAVAI — Pitch Deck</dc:title>
  <dc:subject>PptxGenJS Presentation</dc:subject>
  <dc:creator>LAVAI</dc:creator>
  <cp:lastModifiedBy>LAVAI</cp:lastModifiedBy>
  <cp:revision>1</cp:revision>
  <dcterms:created xsi:type="dcterms:W3CDTF">2026-05-16T16:20:39Z</dcterms:created>
  <dcterms:modified xsi:type="dcterms:W3CDTF">2026-05-16T16:20:39Z</dcterms:modified>
</cp:coreProperties>
</file>